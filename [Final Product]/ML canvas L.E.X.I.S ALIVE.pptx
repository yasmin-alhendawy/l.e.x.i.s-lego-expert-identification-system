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1" d="100"/>
          <a:sy n="91" d="100"/>
        </p:scale>
        <p:origin x="1238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18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9649832-0B4A-1EA1-36F7-BD53F232F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9" t="6953" r="4065" b="3836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7AFF813-EE1C-99BD-E29D-F7215012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2" y="813699"/>
            <a:ext cx="1768413" cy="1920875"/>
          </a:xfrm>
        </p:spPr>
        <p:txBody>
          <a:bodyPr>
            <a:normAutofit/>
          </a:bodyPr>
          <a:lstStyle>
            <a:lvl1pPr algn="l">
              <a:defRPr sz="1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46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30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34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52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5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57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15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2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46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A1525-E729-488F-9214-5F652CF0BE5C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A10B1-4F8C-4E6D-9E95-43FF3072F3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9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01EA05-F96B-F22E-C3C2-87F101ED46BE}"/>
              </a:ext>
            </a:extLst>
          </p:cNvPr>
          <p:cNvSpPr txBox="1"/>
          <p:nvPr/>
        </p:nvSpPr>
        <p:spPr>
          <a:xfrm>
            <a:off x="3722370" y="1158250"/>
            <a:ext cx="1699260" cy="367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Automated Sorting &amp; Storage System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LEXIS classifies and organizes LEGO pieces in real-time.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7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Tiny Piece Recognition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Excels at recognizing </a:t>
            </a: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very small and ambiguous parts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that are time consuming to identify manually or with traditional systems.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7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Dual Classification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Classifies both </a:t>
            </a: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part type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and </a:t>
            </a: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colour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advanced cataloguing or recycling.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7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Sustainability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Aids in recycling and repurposing LEGO bricks by identifying pieces for reuse.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7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Symbol &amp; Shape Learning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Supports educational use by helping users learn part IDs, and symbols through interaction.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GB" sz="7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Supports Real-Time &amp; On-Demand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Predictions via webcam or mobile camera.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125A5-F8CE-AFB9-0D6B-6FC52E8074C8}"/>
              </a:ext>
            </a:extLst>
          </p:cNvPr>
          <p:cNvSpPr txBox="1"/>
          <p:nvPr/>
        </p:nvSpPr>
        <p:spPr>
          <a:xfrm>
            <a:off x="5465236" y="806104"/>
            <a:ext cx="1971884" cy="1742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67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Internal:</a:t>
            </a:r>
            <a:endParaRPr lang="en-US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46,000+ hand-labelled real-life LEGO </a:t>
            </a:r>
            <a:r>
              <a:rPr lang="en-GB" sz="670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  </a:t>
            </a: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part images across 23 classes.</a:t>
            </a:r>
            <a:endParaRPr lang="en-US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5,200 synthetic 3</a:t>
            </a:r>
            <a:r>
              <a:rPr lang="en-GB" sz="670" baseline="300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rd</a:t>
            </a: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generated data of </a:t>
            </a:r>
          </a:p>
          <a:p>
            <a:pPr marR="0" lvl="0">
              <a:buSzPts val="1000"/>
              <a:tabLst>
                <a:tab pos="457200" algn="l"/>
              </a:tabLst>
            </a:pP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LEGO parts for 7 classes.</a:t>
            </a:r>
            <a:endParaRPr lang="en-US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1,100 yolo LEGO labelled images.</a:t>
            </a:r>
            <a:endParaRPr lang="en-US" sz="670" dirty="0">
              <a:solidFill>
                <a:schemeClr val="accent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endParaRPr lang="en-GB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Colour data (manual + image-derived) for RGB-based colour tagging.</a:t>
            </a:r>
          </a:p>
          <a:p>
            <a:pPr marL="0" marR="0">
              <a:buNone/>
            </a:pPr>
            <a:endParaRPr lang="en-GB" sz="67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buNone/>
            </a:pPr>
            <a:r>
              <a:rPr lang="en-GB" sz="67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External:</a:t>
            </a:r>
            <a:endParaRPr lang="en-US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67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Pretrained MobileNetV2 (from TensorFlow).[trained on +1M datapoints and have over 1000 classes]</a:t>
            </a:r>
            <a:endParaRPr lang="en-US" sz="67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E08CF7-136B-B623-B2D5-AA16388D63E8}"/>
              </a:ext>
            </a:extLst>
          </p:cNvPr>
          <p:cNvSpPr txBox="1"/>
          <p:nvPr/>
        </p:nvSpPr>
        <p:spPr>
          <a:xfrm>
            <a:off x="5465236" y="3624165"/>
            <a:ext cx="1971884" cy="2063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Input: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RGB images resized to 96×96 pixels.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Preprocessing: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Resize, normalize, optionally augment.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Features Extracted: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CNN embeddings (MobileNetV2).</a:t>
            </a: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Object bounding boxes (YOLO).</a:t>
            </a:r>
          </a:p>
          <a:p>
            <a:pPr marR="0" lvl="1">
              <a:lnSpc>
                <a:spcPct val="115000"/>
              </a:lnSpc>
              <a:buSzPct val="95000"/>
              <a:tabLst>
                <a:tab pos="9144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Colour histograms or centroid RGBs for  secondary colour prediction.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718597-2E93-A72D-5379-0A3D75946207}"/>
              </a:ext>
            </a:extLst>
          </p:cNvPr>
          <p:cNvSpPr txBox="1"/>
          <p:nvPr/>
        </p:nvSpPr>
        <p:spPr>
          <a:xfrm>
            <a:off x="7341764" y="3870089"/>
            <a:ext cx="1709611" cy="293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buNone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 Triggers:</a:t>
            </a:r>
          </a:p>
          <a:p>
            <a:pPr marL="0" marR="0">
              <a:lnSpc>
                <a:spcPct val="115000"/>
              </a:lnSpc>
              <a:buNone/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 LEGO parts added.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Feedback loop detects performance decline.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New usage context (e.g., different lighting, camera, or colours).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GB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Transfer learning to strengthen or to add new classes </a:t>
            </a:r>
            <a:endParaRPr lang="en-GB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Training Time:</a:t>
            </a:r>
          </a:p>
          <a:p>
            <a:pPr marL="0" marR="0">
              <a:lnSpc>
                <a:spcPct val="115000"/>
              </a:lnSpc>
              <a:buNone/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~ 4–6 hours on CPU (MobileNetV2 transfer learning). (depends)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YOLO fine-tuning possible with new bounding boxes.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F13A47-FFBD-2C25-28E0-E8BD6C6C337B}"/>
              </a:ext>
            </a:extLst>
          </p:cNvPr>
          <p:cNvSpPr txBox="1"/>
          <p:nvPr/>
        </p:nvSpPr>
        <p:spPr>
          <a:xfrm>
            <a:off x="0" y="861760"/>
            <a:ext cx="1879600" cy="1320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Real-time GUI displays part name, confidence, and image.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Used to: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classify parts according to shape, colour.</a:t>
            </a: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Assist users in building symbol-to-brick associations.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D854AD-1813-6D9D-6C4F-8209E786F8D9}"/>
              </a:ext>
            </a:extLst>
          </p:cNvPr>
          <p:cNvSpPr txBox="1"/>
          <p:nvPr/>
        </p:nvSpPr>
        <p:spPr>
          <a:xfrm>
            <a:off x="1906163" y="861760"/>
            <a:ext cx="1394673" cy="1444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Task Type: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Supervised learning.</a:t>
            </a:r>
          </a:p>
          <a:p>
            <a:pPr marR="0">
              <a:lnSpc>
                <a:spcPct val="115000"/>
              </a:lnSpc>
              <a:buSzPct val="143000"/>
            </a:pPr>
            <a:endParaRPr lang="en-GB" sz="700" dirty="0">
              <a:solidFill>
                <a:schemeClr val="accent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Multi-class real time classification .</a:t>
            </a:r>
          </a:p>
          <a:p>
            <a:pPr marL="171450" marR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endParaRPr lang="en-GB" sz="700" b="1" dirty="0">
              <a:solidFill>
                <a:schemeClr val="accent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Input: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LEGO part image / webcam input.</a:t>
            </a:r>
          </a:p>
          <a:p>
            <a:pPr marR="0">
              <a:lnSpc>
                <a:spcPct val="115000"/>
              </a:lnSpc>
              <a:buSzPct val="143000"/>
            </a:pPr>
            <a:endParaRPr lang="en-GB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Output: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LEGO part class + colour tag.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81364-A286-36CD-80FE-3954DFDB9AF9}"/>
              </a:ext>
            </a:extLst>
          </p:cNvPr>
          <p:cNvSpPr txBox="1"/>
          <p:nvPr/>
        </p:nvSpPr>
        <p:spPr>
          <a:xfrm>
            <a:off x="92624" y="3967481"/>
            <a:ext cx="1901062" cy="194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When Triggered: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Webcam/Mobile stream capture.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Manual user upload.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US" sz="700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Training time depends on device configurations and processing power 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>
              <a:lnSpc>
                <a:spcPct val="115000"/>
              </a:lnSpc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Fallback Logic: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</a:t>
            </a:r>
            <a:r>
              <a:rPr lang="en-GB" sz="700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YOLOxCNN</a:t>
            </a: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confidence &lt; 30% or if class is in “hard-to-detect” list            →  fallback to MobileNetV2.</a:t>
            </a:r>
          </a:p>
          <a:p>
            <a:pPr marR="0" lvl="0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Colour prediction runs post-classification.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069B17-3072-F94E-1C83-A4F2C876877D}"/>
              </a:ext>
            </a:extLst>
          </p:cNvPr>
          <p:cNvSpPr txBox="1"/>
          <p:nvPr/>
        </p:nvSpPr>
        <p:spPr>
          <a:xfrm>
            <a:off x="1894205" y="3748045"/>
            <a:ext cx="1661160" cy="1816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buNone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Pre-Deployment Testing:</a:t>
            </a:r>
          </a:p>
          <a:p>
            <a:pPr marL="0" marR="0">
              <a:lnSpc>
                <a:spcPct val="115000"/>
              </a:lnSpc>
              <a:buNone/>
            </a:pP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Train/Validation/Test split with stratified sampling.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Evaluate: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Accuracy, Precision, Recall, F1-Score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Confusion Matrix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buSzPct val="95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Per-class performance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GB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Tools Used: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TensorFlow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scikit-learn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matplotlib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A0470C-7F29-8907-708C-D0A15E80CCCB}"/>
              </a:ext>
            </a:extLst>
          </p:cNvPr>
          <p:cNvSpPr txBox="1"/>
          <p:nvPr/>
        </p:nvSpPr>
        <p:spPr>
          <a:xfrm>
            <a:off x="3651580" y="5761411"/>
            <a:ext cx="3274062" cy="70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Detection confidence (YOLO + CNN)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Piece count &amp; label frequency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Fallback usage when YOLO fails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Autosaved Excel logs every 30s</a:t>
            </a:r>
          </a:p>
          <a:p>
            <a:pPr marL="171450" marR="0" lvl="0" indent="-1714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Colour accuracy matched to LEGO palette.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F79021-68E8-F240-2B7A-6AC39883AD26}"/>
              </a:ext>
            </a:extLst>
          </p:cNvPr>
          <p:cNvSpPr txBox="1"/>
          <p:nvPr/>
        </p:nvSpPr>
        <p:spPr>
          <a:xfrm>
            <a:off x="7345679" y="806104"/>
            <a:ext cx="1755035" cy="1444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buNone/>
            </a:pPr>
            <a:r>
              <a:rPr lang="en-US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Inputs: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marR="0" lvl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Images</a:t>
            </a: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</a:p>
          <a:p>
            <a:pPr marL="628650" marR="0" lvl="1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Captured from a webcam feed</a:t>
            </a:r>
          </a:p>
          <a:p>
            <a:pPr marL="628650" marR="0" lvl="1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Uploaded by users (as a dataset)</a:t>
            </a:r>
          </a:p>
          <a:p>
            <a:pPr marL="0" marR="0">
              <a:lnSpc>
                <a:spcPct val="115000"/>
              </a:lnSpc>
              <a:buNone/>
            </a:pPr>
            <a:r>
              <a:rPr lang="en-US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700" dirty="0">
              <a:solidFill>
                <a:schemeClr val="accent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7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Outputs</a:t>
            </a: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</a:p>
          <a:p>
            <a:pPr marL="171450" marR="0" lvl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Labeled Image</a:t>
            </a:r>
          </a:p>
          <a:p>
            <a:pPr marL="171450" marR="0" lvl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predicted class </a:t>
            </a:r>
          </a:p>
          <a:p>
            <a:pPr marL="171450" marR="0" lvl="0" indent="-171450">
              <a:lnSpc>
                <a:spcPct val="115000"/>
              </a:lnSpc>
              <a:buSzPct val="143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confidence score</a:t>
            </a:r>
          </a:p>
        </p:txBody>
      </p:sp>
    </p:spTree>
    <p:extLst>
      <p:ext uri="{BB962C8B-B14F-4D97-AF65-F5344CB8AC3E}">
        <p14:creationId xmlns:p14="http://schemas.microsoft.com/office/powerpoint/2010/main" val="329342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</TotalTime>
  <Words>465</Words>
  <Application>Microsoft Office PowerPoint</Application>
  <PresentationFormat>On-screen Show (4:3)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Alhendawy, Yasmin | Student</dc:creator>
  <cp:lastModifiedBy>Alhendawy, Yasmin | Student</cp:lastModifiedBy>
  <cp:revision>8</cp:revision>
  <dcterms:created xsi:type="dcterms:W3CDTF">2025-02-18T20:50:58Z</dcterms:created>
  <dcterms:modified xsi:type="dcterms:W3CDTF">2025-06-02T16:27:50Z</dcterms:modified>
</cp:coreProperties>
</file>